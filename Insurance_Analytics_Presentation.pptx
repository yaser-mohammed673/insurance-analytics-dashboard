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70" r:id="rId11"/>
    <p:sldId id="263" r:id="rId12"/>
    <p:sldId id="264" r:id="rId13"/>
    <p:sldId id="272" r:id="rId14"/>
    <p:sldId id="273" r:id="rId15"/>
    <p:sldId id="274" r:id="rId16"/>
    <p:sldId id="266" r:id="rId17"/>
    <p:sldId id="267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CBD5E1"/>
                </a:solidFill>
                <a:latin typeface="Arial"/>
              </a:rPr>
              <a:t>Policies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Policies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B5-4D8C-A4BE-C7A596CD6D91}"/>
              </c:ext>
            </c:extLst>
          </c:dPt>
          <c:dPt>
            <c:idx val="1"/>
            <c:invertIfNegative val="0"/>
            <c:bubble3D val="0"/>
            <c:spPr>
              <a:solidFill>
                <a:srgbClr val="4F4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B5-4D8C-A4BE-C7A596CD6D91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B5-4D8C-A4BE-C7A596CD6D91}"/>
              </c:ext>
            </c:extLst>
          </c:dPt>
          <c:dPt>
            <c:idx val="3"/>
            <c:invertIfNegative val="0"/>
            <c:bubble3D val="0"/>
            <c:spPr>
              <a:solidFill>
                <a:srgbClr val="E976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B5-4D8C-A4BE-C7A596CD6D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Health</c:v>
                </c:pt>
                <c:pt idx="1">
                  <c:v>Property</c:v>
                </c:pt>
                <c:pt idx="2">
                  <c:v>Life</c:v>
                </c:pt>
                <c:pt idx="3">
                  <c:v>Auto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1316</c:v>
                </c:pt>
                <c:pt idx="1">
                  <c:v>1236</c:v>
                </c:pt>
                <c:pt idx="2">
                  <c:v>1234</c:v>
                </c:pt>
                <c:pt idx="3">
                  <c:v>1214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B5-4D8C-A4BE-C7A596CD6D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35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CBD5E1"/>
                </a:solidFill>
                <a:latin typeface="Arial"/>
              </a:rPr>
              <a:t>Policies by Status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8D-4CD8-A67D-FE482DF3D76D}"/>
              </c:ext>
            </c:extLst>
          </c:dPt>
          <c:dPt>
            <c:idx val="1"/>
            <c:invertIfNegative val="0"/>
            <c:bubble3D val="0"/>
            <c:spPr>
              <a:solidFill>
                <a:srgbClr val="E976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8D-4CD8-A67D-FE482DF3D76D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8D-4CD8-A67D-FE482DF3D7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Terminated</c:v>
                </c:pt>
                <c:pt idx="2">
                  <c:v>Lapsed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1682</c:v>
                </c:pt>
                <c:pt idx="1">
                  <c:v>1678</c:v>
                </c:pt>
                <c:pt idx="2">
                  <c:v>1640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C8D-4CD8-A67D-FE482DF3D7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33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3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17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7A40-2422-E995-5528-8FBC1A14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C398E-7F89-EE02-7B76-C6018CF40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C9BC-AD9E-3236-75B4-4E63876C7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80FAE-EE7B-E1A0-6109-0F1F68A55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02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2560-6714-3623-08C4-38EA550D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B00FB-3BCF-5070-C444-2B36C667D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4EDC3-F35A-1D82-D336-1B7F90B91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B3944-5166-A61D-1309-CA8BD620D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3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E3BD-8F43-DE70-8316-D349601C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C180A-CE70-4D73-DE69-15C621D11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8C74F-CE7F-2F25-090D-6545E6B3E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0A1D-1C15-BE3A-77C1-DD9ACDBC7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9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F514-C80E-C32A-CAA6-246883CD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2E705-1283-4312-71B3-C12C3F061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5B957-76EC-B3D9-0EFB-7D2FA6A82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AD60A-078A-FDAC-502C-6DCF270BC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70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0C20F-BE27-D205-F642-332EB0AA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D256E-0B2E-52C9-6E0C-4EC189F36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6091C-29E3-8412-C4ED-5A4ADDC2B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2497-683F-A15E-5CDB-670C6BCE1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8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9AE8-07E0-A8CE-B113-A57039CA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D48B8-FFF0-48F8-C2F3-B8C9A796B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292E-A7A7-271F-C57C-A1030D04B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C5483-C6D3-9EDE-ED47-057BD3969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9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6400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274320"/>
            <a:ext cx="2286000" cy="6400800"/>
          </a:xfrm>
          <a:prstGeom prst="rect">
            <a:avLst/>
          </a:prstGeom>
          <a:solidFill>
            <a:srgbClr val="142038">
              <a:alpha val="70000"/>
            </a:srgbClr>
          </a:solidFill>
          <a:ln w="12700">
            <a:solidFill>
              <a:srgbClr val="1420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228600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0D9488"/>
                </a:solidFill>
              </a:rPr>
              <a:t>INSURANCE ANALYTICS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End-to-End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Analytics Project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A comprehensive analytics project covering data cleaning, SQL processing,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Power BI &amp; Tableau dashboards, and strategic insights.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Excel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175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47472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Tableau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5,000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Policies Analyzed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39112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3,148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39112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Unique Customers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03904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9488"/>
                </a:solidFill>
              </a:rPr>
              <a:t>₹</a:t>
            </a:r>
            <a:r>
              <a:rPr lang="en-US" sz="1800" b="1" dirty="0">
                <a:solidFill>
                  <a:srgbClr val="0D9488"/>
                </a:solidFill>
              </a:rPr>
              <a:t>5.26M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03904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Total Premium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8696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$₹</a:t>
            </a:r>
            <a:r>
              <a:rPr lang="en-US" b="1" dirty="0">
                <a:solidFill>
                  <a:srgbClr val="0D9488"/>
                </a:solidFill>
              </a:rPr>
              <a:t>251.4</a:t>
            </a:r>
            <a:r>
              <a:rPr lang="en-US" sz="1800" b="1" dirty="0">
                <a:solidFill>
                  <a:srgbClr val="0D9488"/>
                </a:solidFill>
              </a:rPr>
              <a:t>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68696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Total Claims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33488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2014–2024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33488" y="4617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Data Coverage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Objectives, tools, and scope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📊  Data Exploration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Analyzed 5,000 insurance policies across 5 tables covering policies, customers, claims, payments, and risk score.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🔧  Data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35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Standardize formats, handle missing values, engineer policy tenure/ age/risk/claim settlement days/discount buckets using Excel Power Query.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28600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🗄️  SQL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70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Build a relational database in MySQL, write analytical queries, views, and stored procedures.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228600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📈  Visual Dashboards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700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Build executive-level dashboards in Excel, Power BI, and Tableau with KPIs, drill-downs, and filters.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52044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352044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💡  Actionable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Identify high-risk segments, claim patterns, geographic exposure, and premium growth trends.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4114800" cy="107899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457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🎯  Business Decisions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Provide data-backed recommendations on premium ,coverage, retention, claims efficiency, and market targeting.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8600" y="46634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</a:rPr>
              <a:t>TOOLS USED IN THIS PROJECT</a:t>
            </a:r>
            <a:endParaRPr lang="en-US" sz="8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D055FDF-3E90-2287-55B0-216527A0E437}"/>
              </a:ext>
            </a:extLst>
          </p:cNvPr>
          <p:cNvGrpSpPr/>
          <p:nvPr/>
        </p:nvGrpSpPr>
        <p:grpSpPr>
          <a:xfrm>
            <a:off x="228600" y="4846320"/>
            <a:ext cx="8595360" cy="329184"/>
            <a:chOff x="228600" y="4846320"/>
            <a:chExt cx="8595360" cy="548640"/>
          </a:xfrm>
        </p:grpSpPr>
        <p:sp>
          <p:nvSpPr>
            <p:cNvPr id="30" name="Shape 28"/>
            <p:cNvSpPr/>
            <p:nvPr/>
          </p:nvSpPr>
          <p:spPr>
            <a:xfrm>
              <a:off x="228600" y="4846320"/>
              <a:ext cx="2011680" cy="548640"/>
            </a:xfrm>
            <a:prstGeom prst="rect">
              <a:avLst/>
            </a:prstGeom>
            <a:solidFill>
              <a:srgbClr val="217346"/>
            </a:solidFill>
            <a:ln w="12700">
              <a:solidFill>
                <a:srgbClr val="217346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29"/>
            <p:cNvSpPr/>
            <p:nvPr/>
          </p:nvSpPr>
          <p:spPr>
            <a:xfrm>
              <a:off x="22860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Microsoft Excel</a:t>
              </a:r>
              <a:endParaRPr lang="en-US" sz="10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2860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Power Query · Power Pivot · Charts</a:t>
              </a:r>
              <a:endParaRPr lang="en-US" sz="7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2423160" y="4846320"/>
              <a:ext cx="2011680" cy="548640"/>
            </a:xfrm>
            <a:prstGeom prst="rect">
              <a:avLst/>
            </a:prstGeom>
            <a:solidFill>
              <a:srgbClr val="4479A1"/>
            </a:solidFill>
            <a:ln w="12700">
              <a:solidFill>
                <a:srgbClr val="4479A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32"/>
            <p:cNvSpPr/>
            <p:nvPr/>
          </p:nvSpPr>
          <p:spPr>
            <a:xfrm>
              <a:off x="242316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MySQL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242316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Tables · Views · Stored Procs</a:t>
              </a:r>
              <a:endParaRPr lang="en-US" sz="7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617720" y="4846320"/>
              <a:ext cx="2011680" cy="548640"/>
            </a:xfrm>
            <a:prstGeom prst="rect">
              <a:avLst/>
            </a:prstGeom>
            <a:solidFill>
              <a:srgbClr val="F2C811"/>
            </a:solidFill>
            <a:ln w="12700">
              <a:solidFill>
                <a:srgbClr val="F2C81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 35"/>
            <p:cNvSpPr/>
            <p:nvPr/>
          </p:nvSpPr>
          <p:spPr>
            <a:xfrm>
              <a:off x="461772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Power BI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61772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DAX · Visuals · Bookmarks</a:t>
              </a:r>
              <a:endParaRPr lang="en-US" sz="7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812280" y="4846320"/>
              <a:ext cx="2011680" cy="548640"/>
            </a:xfrm>
            <a:prstGeom prst="rect">
              <a:avLst/>
            </a:prstGeom>
            <a:solidFill>
              <a:srgbClr val="E97627"/>
            </a:solidFill>
            <a:ln w="12700">
              <a:solidFill>
                <a:srgbClr val="E97627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 38"/>
            <p:cNvSpPr/>
            <p:nvPr/>
          </p:nvSpPr>
          <p:spPr>
            <a:xfrm>
              <a:off x="6812280" y="484632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Tableau</a:t>
              </a:r>
              <a:endParaRPr lang="en-US" sz="10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812280" y="512064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</a:rPr>
                <a:t>LODs · Parameters · Blending</a:t>
              </a:r>
              <a:endParaRPr lang="en-US" sz="75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Dataset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5 interrelated tables · 5,000 records · 10-year span (2014–2024)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14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Policy Details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Policy ID, Type, Coverage, Premium, Payment Frequency, Status, Tenure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74920" y="112471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74920" y="11247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755648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755648"/>
            <a:ext cx="54864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Customer Information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075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Customer ID, Name, Gender, Age, Marital Status, City, State, Occupation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74920" y="192024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7492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3,148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2551176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2551176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Claims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8712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Claim ID, Amount, Status, Date, Reason, Settlement Days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74920" y="271576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715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346704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346704"/>
            <a:ext cx="54864" cy="713232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7627"/>
                </a:solidFill>
              </a:rPr>
              <a:t>Payment History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6667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Payment ID, Date, Amount, Method, 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351129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35112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~15K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4142232"/>
            <a:ext cx="5394960" cy="713232"/>
          </a:xfrm>
          <a:prstGeom prst="rect">
            <a:avLst/>
          </a:prstGeom>
          <a:solidFill>
            <a:srgbClr val="1E3354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414223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4197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Additional Fields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462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Agent ID, Renewal Status, Risk Score, Discounts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74920" y="43068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74920" y="4306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5,000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96012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852160" y="96012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52160" y="106984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5,000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852160" y="164592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34072" y="96012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434072" y="96012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434072" y="106984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3,148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434072" y="164592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52160" y="228600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852160" y="228600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852160" y="239572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₹1,052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852160" y="297180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Premium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34072" y="228600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434072" y="228600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434072" y="239572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₹251.4M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7434072" y="297180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Claims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52160" y="361188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852160" y="361188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852160" y="372160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50.4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5852160" y="429768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Risk Score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34072" y="3611880"/>
            <a:ext cx="1389888" cy="114300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434072" y="3611880"/>
            <a:ext cx="13898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434072" y="3721608"/>
            <a:ext cx="138988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33.6%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7434072" y="4297680"/>
            <a:ext cx="13898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Renewed Policies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DATA COVERAGE: 2014 – 2024  |  50 U.S. States  |  Health · Auto · Life · Property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Data Cleaning — Power Query (Excel)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599" y="877824"/>
            <a:ext cx="4074751" cy="1300734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43627" y="905256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474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2286" y="9474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4108" y="996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Missing Value Treatment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3813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Claim Amount nulls → filled with 0 for non-claimant policies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Settlement Date blanks → kept NULL with conditional logic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Occupation gaps → categorized as 'Unknown'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1491" y="1911096"/>
            <a:ext cx="38376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 Settlement Date blanks → kept NULL with conditional logic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9601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90872" y="9601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55464" y="10515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55464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Data Type Corrections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13990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Serial date numbers converted to proper date format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Premium, Coverage &amp; Claim columns → Decimal(15,2)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Policy ID, Customer ID → Text to preserve leading zeros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23317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93192" y="2423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Duplicate Removal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7706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Identified 127 duplicate payment records using Remove Duplicates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Policy-level deduplication based on Policy ID + Customer ID pair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Retained most recent record where conflicts existed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90872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90872" y="23317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55464" y="24231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55464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Engineered Feature Columns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73752" y="27706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Age Buckets: 18–30, 31–45, 46–60, 61–75, 76+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Policy Tenure Buckets: Short (&lt;1yr), Medium (1–3yr), Long (3yr+)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Risk Category: Low (1–33), Medium (34–66), High (67–100)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28600" y="37033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93192" y="37947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9319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86968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Data Standardization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41422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State names trimmed of leading/trailing spaces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Gender values unified: Male / Female / Other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Payment Frequency normalized: Monthly, Quarterly, Annually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90872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690872" y="37033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855464" y="37947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55464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4924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Column &amp; Schema Cleanup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73752" y="41422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Renamed columns to small case for SQL compatibility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Removed irrelevant auto-generated index columns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Validated referential integrity: Policy ID ↔ Customer ID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Data Modeling — Power Pivot (Excel)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0" y="868680"/>
            <a:ext cx="1554480" cy="868680"/>
          </a:xfrm>
          <a:prstGeom prst="rect">
            <a:avLst/>
          </a:prstGeom>
          <a:solidFill>
            <a:srgbClr val="1E3354"/>
          </a:solidFill>
          <a:ln w="1905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43600" y="868680"/>
            <a:ext cx="1554480" cy="64008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0" y="941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1399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</a:rPr>
              <a:t>Key: Policy ID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0" y="1737360"/>
            <a:ext cx="2148840" cy="640080"/>
          </a:xfrm>
          <a:prstGeom prst="line">
            <a:avLst/>
          </a:prstGeom>
          <a:noFill/>
          <a:ln w="12700">
            <a:solidFill>
              <a:srgbClr val="E9762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0" y="2468880"/>
            <a:ext cx="1554480" cy="868680"/>
          </a:xfrm>
          <a:prstGeom prst="rect">
            <a:avLst/>
          </a:prstGeom>
          <a:solidFill>
            <a:srgbClr val="1E3354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0" y="2468880"/>
            <a:ext cx="1554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0" y="2542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Additional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Fields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999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</a:rPr>
              <a:t>Key: Policy ID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0" y="2377440"/>
            <a:ext cx="3063240" cy="9601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715000" y="960120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715000" y="960120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97880" y="1024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Star Schema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9788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Central fact table (Policy Details) linked to 4 dimension tables via primary/foreign keys.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1984248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715000" y="1984248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97880" y="2048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Relationships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97880" y="2350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Policy ID connects Claims, Payments, Agents. Customer ID links customer demographics.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15000" y="3008376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715000" y="3008376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897880" y="3072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Calculated Columns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97880" y="3374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Age Buckets, Tenure Groups, Risk Categories created via DAX in Power Pivot.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15000" y="4032504"/>
            <a:ext cx="3246120" cy="91440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715000" y="4032504"/>
            <a:ext cx="457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89788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KPI Measures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97880" y="4398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Premium Revenue, Loss Ratio, Renewal Rate, YoY Growth computed as DAX measures.</a:t>
            </a:r>
            <a:endParaRPr lang="en-US" sz="8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61C601A-6978-7DDD-60F3-A58129692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8" y="870310"/>
            <a:ext cx="4931022" cy="4142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SQL Data Processing — MySQL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Database creation, ETL, analytical queries, views &amp; stored procedures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5214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Database &amp; Tables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316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CREATE DATABASE Insurance_Project; then 5 tables matching the schema — Policy_Details, Customer_Information, Claims, Payment_History, Additional_Fields.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792224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1847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Data Loading (ETL)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1214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LOAD DATA INFILE with conditional CASE logic to handle serial dates and NULL settlement dates across all 5 CSV files.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596896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Analytical Queries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Status-wise policies, YoY Growth %, Gender distribution, Age Bucket analysis, Claim Status breakdown, Loss Ratio % calculation and Top 5 Customers with high premium.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401568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Views for Reporting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7307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Created reusable views: </a:t>
            </a:r>
            <a:r>
              <a:rPr lang="en-US" sz="850" dirty="0" err="1">
                <a:solidFill>
                  <a:schemeClr val="bg1">
                    <a:lumMod val="85000"/>
                  </a:schemeClr>
                </a:solidFill>
              </a:rPr>
              <a:t>vw_PolicySummary</a:t>
            </a:r>
            <a:r>
              <a:rPr lang="en-US" sz="850" dirty="0">
                <a:solidFill>
                  <a:schemeClr val="bg1">
                    <a:lumMod val="85000"/>
                  </a:schemeClr>
                </a:solidFill>
              </a:rPr>
              <a:t> — ensuring consistency across different applications that pull from the same data source.</a:t>
            </a:r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4754880" cy="713232"/>
          </a:xfrm>
          <a:prstGeom prst="rect">
            <a:avLst/>
          </a:prstGeom>
          <a:solidFill>
            <a:srgbClr val="1E3354"/>
          </a:solidFill>
          <a:ln w="1016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4261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Stored Procedures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45354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 err="1">
                <a:solidFill>
                  <a:srgbClr val="CBD5E1"/>
                </a:solidFill>
              </a:rPr>
              <a:t>sp_policies</a:t>
            </a:r>
            <a:r>
              <a:rPr lang="en-US" sz="850" dirty="0">
                <a:solidFill>
                  <a:srgbClr val="CBD5E1"/>
                </a:solidFill>
              </a:rPr>
              <a:t> expiring — parameterized for dynamic date-range and segment filtering.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987552"/>
            <a:ext cx="374904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57800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SQL SNIPPET — YoY Growth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57800" y="1261872"/>
            <a:ext cx="34290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SELECT year,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</a:t>
            </a: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CONCAT(ROUND((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/ NULLIF(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0) * 100, 2),'%') AS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yoy_growth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FROM (SELECT year,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LAG(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OVER (ORDER BY year) AS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previous_year_revenue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FROM (SELECT YEAR(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policy_start_date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AS year, </a:t>
            </a: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SUM(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premium_amount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AS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total_revenueFROM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policy_details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GROUP BY YEAR(</a:t>
            </a:r>
            <a:r>
              <a:rPr lang="en-US" sz="10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policy_start_date</a:t>
            </a:r>
            <a:r>
              <a:rPr lang="en-US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)) t1) t2;</a:t>
            </a:r>
          </a:p>
        </p:txBody>
      </p:sp>
      <p:sp>
        <p:nvSpPr>
          <p:cNvPr id="33" name="Shape 31"/>
          <p:cNvSpPr/>
          <p:nvPr/>
        </p:nvSpPr>
        <p:spPr>
          <a:xfrm>
            <a:off x="5166360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166360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66360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166360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Tables Created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99048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099048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99048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20+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099048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Queries Written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31736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031736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031736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1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031736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Views Created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64424" y="3456432"/>
            <a:ext cx="841248" cy="82296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964424" y="3456432"/>
            <a:ext cx="8412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964424" y="3566160"/>
            <a:ext cx="8412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1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7964424" y="3950208"/>
            <a:ext cx="8412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Stored Procs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24B5E-1D36-AF05-721C-F25CC0FD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DB566E-3778-143D-AA5B-6907E396CF6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949A83-6064-72A5-9FE3-DA918889128E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MySQL Queries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318AEB-1679-488B-8854-65F4940DEC42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Database creation, ETL, analytical queries, views &amp; stored procedures</a:t>
            </a:r>
            <a:endParaRPr lang="en-US" sz="10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3B727F2-E20E-F927-2ABB-7D073626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" y="932689"/>
            <a:ext cx="4496816" cy="261556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98C8E1E-5D7F-0007-BCCD-C28718D4C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704" y="2189018"/>
            <a:ext cx="5542112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42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F9184-9576-5F7B-9984-92C5CC43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8CBB7A-3DB6-AF6A-5A25-CD2CF3679F4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103531-F459-B22B-1BEC-CC7A4480A070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MySQL Queries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BB4E7A-F5BF-F9DF-C977-23820F5DCBE6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Database creation, ETL, analytical queries, views &amp; stored procedures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A0C44-40AE-1727-96D1-6751C9270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73" y="1918854"/>
            <a:ext cx="5264727" cy="3224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91A01B-4E6C-1D7A-E090-3837DFE23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2689"/>
            <a:ext cx="4332297" cy="236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15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Excel Dashboard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Pivot tables, KPI cards, and interactive slicers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70F775E-9593-CA2A-8523-2DB69B9E1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8"/>
            <a:ext cx="9143999" cy="4210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F0E7A-DE38-3B12-ABE2-A6EAD8E9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00CB54-9F10-69EA-DAA2-5819E6AF931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02BB7D-D381-4105-0FCF-69815DDAD0B3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· Excel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1D5A98-1F9C-98F3-5EC1-96D73CDAE5DC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Pivot tables, KPI cards, and interactive slicers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3B249-B241-3378-607E-543F6D3B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3072"/>
            <a:ext cx="9144000" cy="42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9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Power BI Dashboard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Advanced DAX measures, AI visuals, and cross-filtering</a:t>
            </a:r>
            <a:endParaRPr lang="en-US" sz="10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FA9775C-24B8-347D-DC79-9D0EB26F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2979"/>
            <a:ext cx="9144000" cy="4170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Power BI Dashboard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62000"/>
            <a:ext cx="85039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4B8A6"/>
                </a:solidFill>
              </a:rPr>
              <a:t>Advanced DAX measures, AI visuals, and cross-filtering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D8C589B-0925-E9A2-1100-A04403A16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32688"/>
            <a:ext cx="9144000" cy="4210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30E8F-5F5F-E1FA-7F85-2332759D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A8A07F-3D8F-1C54-8D04-7C7FEB47403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3456FD-D21D-5E92-15AF-54045A3AFAE0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Power BI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73B3F0-87C6-5D04-5276-400E94315767}"/>
              </a:ext>
            </a:extLst>
          </p:cNvPr>
          <p:cNvSpPr/>
          <p:nvPr/>
        </p:nvSpPr>
        <p:spPr>
          <a:xfrm>
            <a:off x="320040" y="748144"/>
            <a:ext cx="8503920" cy="18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4B8A6"/>
                </a:solidFill>
              </a:rPr>
              <a:t>Advanced DAX measures, AI visuals, and cross-filtering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D308A-88F3-7181-1356-3C0A6897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8"/>
            <a:ext cx="9144000" cy="42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5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79780-8ACF-249D-4C3D-A047E26D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0FE20E-5DF4-3D6E-80B9-F545342A5C3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DA37F-82AD-7F4F-B01E-2A9AF302E9D9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Tableau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9CEC49-EB97-8BB5-4AD2-AA30B96C56EC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 blending, LOD expressions, parameters &amp; interactive filters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0D594F-5EBE-C320-384A-DFD0D6DE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9"/>
            <a:ext cx="9144000" cy="42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78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10F95-E06C-1563-EECE-4382E207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ACADDD-006F-832C-CB03-482A3D92D01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D09C1A-A377-D32E-EE2C-179EFC660DD9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· Tableau Dashboard Development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D3CD7C-6E57-2B9C-1480-553AFF90760B}"/>
              </a:ext>
            </a:extLst>
          </p:cNvPr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 blending, LOD expressions, parameters &amp; interactive filters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911CB-633F-88C5-BA72-28F74554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88"/>
            <a:ext cx="9144000" cy="42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34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 · Key Metrics &amp;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Aggregated from 5,000 policies · 2014–2024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5,000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Policies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04872" y="960120"/>
            <a:ext cx="20116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04872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</a:rPr>
              <a:t>3,148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04872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81144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₹5.26M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81144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Premium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9601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57416" y="9601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57416" y="10698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₹251.4M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57416" y="17007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Total Claim Amount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E976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011680" cy="54864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7627"/>
                </a:solidFill>
              </a:rPr>
              <a:t>₹1,052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28600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Premium / Customer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04872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04872" y="2331720"/>
            <a:ext cx="20116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04872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C4899"/>
                </a:solidFill>
              </a:rPr>
              <a:t>50.4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404872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Avg Risk Score (0–100)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81144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81144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81144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33.4%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81144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Policy Renewal Rate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57416" y="2331720"/>
            <a:ext cx="2011680" cy="1234440"/>
          </a:xfrm>
          <a:prstGeom prst="rect">
            <a:avLst/>
          </a:prstGeom>
          <a:solidFill>
            <a:srgbClr val="1E3354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57416" y="2331720"/>
            <a:ext cx="20116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57416" y="2441448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</a:rPr>
              <a:t>33.6%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757416" y="3072384"/>
            <a:ext cx="20116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Active Policy Rate</a:t>
            </a:r>
            <a:endParaRPr lang="en-US" sz="9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228600" y="3703320"/>
          <a:ext cx="42062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1"/>
          <p:cNvGraphicFramePr/>
          <p:nvPr/>
        </p:nvGraphicFramePr>
        <p:xfrm>
          <a:off x="4709160" y="3703320"/>
          <a:ext cx="42062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· Key Insights from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Data-driven discoveries from 5,000 insurance policies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1874520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93192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627"/>
                </a:solidFill>
              </a:rPr>
              <a:t>High-Risk Segments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527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29% of policies have a Risk Score &gt; 66 (High Risk)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Property policies carry the highest average risk score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2167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Age group 61–75 shows disproportionate claim activity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1,454 policies (29%) reported negative profit margins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90872" y="96012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90872" y="960120"/>
            <a:ext cx="4572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55464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12664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Premium vs. Claim Patterns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55464" y="15270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Total claims ($85.8M) significantly exceed total premiums ($5.26M)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55464" y="18470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Only 29% of policies had approved claim amounts &gt; $0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55464" y="2167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Health and Auto policies account for highest claim ratios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55464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Avg claim far exceeds avg premium, indicating pricing gaps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45720" cy="1874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319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</a:rPr>
              <a:t>Customer Behavior Trends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3538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Renewal rate of 33.4% — 33.7% pending review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3192" y="38587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Customers aged 34–51 represent the highest policy concentration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3192" y="41788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Monthly payment frequency is most preferred (35% of customers)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3192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Single marital status associated with higher lapse rates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90872" y="2971800"/>
            <a:ext cx="4114800" cy="1874520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90872" y="2971800"/>
            <a:ext cx="45720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55464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12664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Geographic &amp; Payment Trends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55464" y="3538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Texas, South Carolina &amp; Hawaii lead in policy count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55464" y="38587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High claim density observed in coastal states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55464" y="41788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Payment failures concentrated in Quarterly payers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55464" y="4498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›  Western states show better renewal behavior than Eastern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 · Business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Translating insights into actionable strategy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93192" y="1069848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3192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10698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F4444"/>
                </a:solidFill>
              </a:rPr>
              <a:t>Revise Pricing for High-Risk Policies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14356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Implement risk-based dynamic pricing. Increase premiums for Risk Score &gt; 66 by 15–20%. Use predictive scoring from claim history to adjust at renewal. Introduce deductible tiers for Property and Auto high-risk customers.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90872" y="9601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90872" y="960120"/>
            <a:ext cx="45720" cy="1261872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55464" y="1069848"/>
            <a:ext cx="365760" cy="365760"/>
          </a:xfrm>
          <a:prstGeom prst="ellipse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55464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36992" y="10698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36992" y="1069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30952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97627"/>
                </a:solidFill>
              </a:rPr>
              <a:t>Improve Policy Renewal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14356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33.4% renewal is below industry benchmark (~45%). Launch retention campaigns for 'Pending' customers (33.7%). Offer loyalty discounts, streamlined renewal UX, and proactive outreach 60 days before expiry.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93192" y="244144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93192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0" y="24414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0" y="2441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8680" y="2423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</a:rPr>
              <a:t>Geographic Risk Management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" y="28072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Texas and coastal states show elevated claim density. Reallocate actuarial reserves to high-exposure regions. Consider geographic underwriting caps for catastrophe-prone zones. Pilot state-level profitability reporting.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90872" y="23317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4F46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90872" y="2331720"/>
            <a:ext cx="45720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55464" y="244144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55464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936992" y="24414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936992" y="2441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30952" y="2423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F46E5"/>
                </a:solidFill>
              </a:rPr>
              <a:t>Target High-Value Customer Segments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55464" y="28072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Age 31–60, married, with multiple policies show strongest LTV. Bundle Health + Life or Auto + Property for cross-sell. Create segment-specific campaign playbooks using customer clustering from the analytics.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28600" y="3703320"/>
            <a:ext cx="4572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93192" y="381304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93192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0" y="38130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74720" y="38130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6868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Optimize Claims Processing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" y="41788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Average claim settlement days are a key dissatisfier. Fast-track low-complexity claims under $10K. Reduce settlement cycles with SLA-based process automation. Identify agents with highest claim approval cycles.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90872" y="3703320"/>
            <a:ext cx="4114800" cy="1261872"/>
          </a:xfrm>
          <a:prstGeom prst="rect">
            <a:avLst/>
          </a:prstGeom>
          <a:solidFill>
            <a:srgbClr val="1E3354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90872" y="3703320"/>
            <a:ext cx="4572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855464" y="381304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855464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936992" y="381304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936992" y="38130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30952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Expand Analytics Maturity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55464" y="417880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</a:rPr>
              <a:t>Integrate real-time data feeds into Power BI via API. Build ML model for churn prediction and risk scoring. Implement predictive premium calculation engine. Develop customer 360° view combining CRM + policy data.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FFFFFF"/>
                </a:solidFill>
              </a:rPr>
              <a:t>Findings &amp; Impact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Processed 5,000 policies across 5 interconnected tables using a full analytics stack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4323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Identified 29% policies with negative profit margins — pricing strategy gap confirmed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9992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Renewal rate of 33.4% highlights urgent need for retention optimization programs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5295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3493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Coastal states carry disproportionate claim burden — geographic risk rebalancing recommended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0599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Power BI &amp; Tableau dashboards provide real-time visibility for executive decision-making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502920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21734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20840" y="502920"/>
            <a:ext cx="2240280" cy="6400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66560" y="566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7346"/>
                </a:solidFill>
              </a:rPr>
              <a:t>Excel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886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EDA, cleaning &amp; pivot dashboards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20840" y="1618488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447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20840" y="1618488"/>
            <a:ext cx="2240280" cy="64008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66560" y="1682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9A1"/>
                </a:solidFill>
              </a:rPr>
              <a:t>MySQL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2002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Relational DB, queries &amp; views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20840" y="2734056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F2C81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20840" y="2734056"/>
            <a:ext cx="2240280" cy="6400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66560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811"/>
                </a:solidFill>
              </a:rPr>
              <a:t>Power BI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Enterprise KPI &amp; AI visuals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20840" y="3849624"/>
            <a:ext cx="2240280" cy="960120"/>
          </a:xfrm>
          <a:prstGeom prst="rect">
            <a:avLst/>
          </a:prstGeom>
          <a:solidFill>
            <a:srgbClr val="1E3354"/>
          </a:solidFill>
          <a:ln w="19050">
            <a:solidFill>
              <a:srgbClr val="E9762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720840" y="3849624"/>
            <a:ext cx="2240280" cy="64008"/>
          </a:xfrm>
          <a:prstGeom prst="rect">
            <a:avLst/>
          </a:prstGeom>
          <a:solidFill>
            <a:srgbClr val="E97627"/>
          </a:solidFill>
          <a:ln w="12700">
            <a:solidFill>
              <a:srgbClr val="E97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766560" y="3913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627"/>
                </a:solidFill>
              </a:rPr>
              <a:t>Tableau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4233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</a:rPr>
              <a:t>Interactive exploratory dashboards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1703</Words>
  <Application>Microsoft Office PowerPoint</Application>
  <PresentationFormat>On-screen Show (16:9)</PresentationFormat>
  <Paragraphs>274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Analytics Project</dc:title>
  <dc:subject>PptxGenJS Presentation</dc:subject>
  <dc:creator>Insurance Analytics Team</dc:creator>
  <cp:lastModifiedBy>Meghana A</cp:lastModifiedBy>
  <cp:revision>4</cp:revision>
  <dcterms:created xsi:type="dcterms:W3CDTF">2026-04-15T13:00:29Z</dcterms:created>
  <dcterms:modified xsi:type="dcterms:W3CDTF">2026-04-18T13:09:09Z</dcterms:modified>
</cp:coreProperties>
</file>